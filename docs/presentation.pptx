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Explainable Deep 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Visual Interpretation in Ms-Pacman 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Problem: Black Box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?? Deep RL agents achieve superhuman performance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But we don't understand WHY they decide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?? Decision-making remains opaque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?? Hard to debug, validate, or trust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?? Ms-Pacman is complex: 4 ghosts, maze, 2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Our Solution: Explainable 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⚙ Multi-head attention: Threat | Reward | Path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⚙ Real-time visualization: See AI thinking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⚙ 4 techniques: Attention + Grad-CAM + Saliency + Q-values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⚙ Interactive dashboard: Frame-by-frame analysis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v1 Result: 47.8% of baseline (needs improvement)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v3 Target: ≥90% of baseline (real gating + entropy reg)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Network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?? Base: Nature DQN CNN (32?64?64 filters)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?? Multi-head Attention: 3 specialized heads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-  Threat Head (focus on ghosts)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-  Reward Head (focus on pellets)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-  Path Head (focus on maze)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?? Dueling Output: Value + Advantage = Q-values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Ms-Pacman vs Breakout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Ms-Pacman:</a:t>
            </a:r>
          </a:p>
          <a:p>
            <a:pPr>
              <a:spcAft>
                <a:spcPts val="1200"/>
              </a:spcAft>
              <a:defRPr sz="1800"/>
            </a:pPr>
            <a:r>
              <a:t>-  Multi-agent (4 ghosts)</a:t>
            </a:r>
          </a:p>
          <a:p>
            <a:pPr>
              <a:spcAft>
                <a:spcPts val="1200"/>
              </a:spcAft>
              <a:defRPr sz="1800"/>
            </a:pPr>
            <a:r>
              <a:t>-  Multi-objective (avoid + collect + plan)</a:t>
            </a:r>
          </a:p>
          <a:p>
            <a:pPr>
              <a:spcAft>
                <a:spcPts val="1200"/>
              </a:spcAft>
              <a:defRPr sz="1800"/>
            </a:pPr>
            <a:r>
              <a:t>-  State-dependent behavior</a:t>
            </a:r>
          </a:p>
          <a:p>
            <a:pPr>
              <a:spcAft>
                <a:spcPts val="1200"/>
              </a:spcAft>
              <a:defRPr sz="1800"/>
            </a:pPr>
            <a:r>
              <a:t>-  Strategic planning required</a:t>
            </a:r>
          </a:p>
          <a:p>
            <a:pPr>
              <a:spcAft>
                <a:spcPts val="1200"/>
              </a:spcAft>
              <a:defRPr sz="1800"/>
            </a:pPr>
            <a:r>
              <a:t>-  Rich behavioral patterns</a:t>
            </a:r>
          </a:p>
          <a:p>
            <a:pPr>
              <a:spcAft>
                <a:spcPts val="1200"/>
              </a:spcAft>
              <a:defRPr sz="1800"/>
            </a:pPr>
            <a:r>
              <a:t>-  More impressive demo! 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Breakout:</a:t>
            </a:r>
          </a:p>
          <a:p>
            <a:pPr>
              <a:spcAft>
                <a:spcPts val="1200"/>
              </a:spcAft>
              <a:defRPr sz="1800"/>
            </a:pPr>
            <a:r>
              <a:t>-  Single object (ball)</a:t>
            </a:r>
          </a:p>
          <a:p>
            <a:pPr>
              <a:spcAft>
                <a:spcPts val="1200"/>
              </a:spcAft>
              <a:defRPr sz="1800"/>
            </a:pPr>
            <a:r>
              <a:t>-  Single objective (hit ball)</a:t>
            </a:r>
          </a:p>
          <a:p>
            <a:pPr>
              <a:spcAft>
                <a:spcPts val="1200"/>
              </a:spcAft>
              <a:defRPr sz="1800"/>
            </a:pPr>
            <a:r>
              <a:t>-  Simple reactive behavior</a:t>
            </a:r>
          </a:p>
          <a:p>
            <a:pPr>
              <a:spcAft>
                <a:spcPts val="1200"/>
              </a:spcAft>
              <a:defRPr sz="1800"/>
            </a:pPr>
            <a:r>
              <a:t>-  No planning needed</a:t>
            </a:r>
          </a:p>
          <a:p>
            <a:pPr>
              <a:spcAft>
                <a:spcPts val="1200"/>
              </a:spcAft>
              <a:defRPr sz="1800"/>
            </a:pPr>
            <a:r>
              <a:t>-  Limited strategies</a:t>
            </a:r>
          </a:p>
          <a:p>
            <a:pPr>
              <a:spcAft>
                <a:spcPts val="1200"/>
              </a:spcAft>
              <a:defRPr sz="1800"/>
            </a:pPr>
            <a:r>
              <a:t>-  Less complex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Multi-Head Attention (v2 vs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v1 (47.8% of baseline):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Threat Head: Conv1x1(64→32) + Conv1x1(32→1) + Sigmoid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Reward Head + Path Head: same architecture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Combined: mean(A_i) × base × (1 + g×tanh)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v3 (target ≥90%):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Real gating: combined = base + α×(base×attention)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α=sigmoid(α_logit)≈0.05 at init → identity!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Additive residual: combined += β×proj(base)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Entropy reg: push heads toward H≤1.0 or H≥3.0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4 Explainability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1?? Attention Maps: Real-time heatmaps showing focus areas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2?? Grad-CAM: CNN feature importance visualization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3?? Saliency Maps: Pixel-level decision influence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4?? Q-Value Analysis: Expected rewards for each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Interactive Dashboard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Live gameplay with state indicators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Per-ghost threat analysis (distance + level)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Real-time attention distribution visualization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Q-value bar charts with action explanations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Saliency and Grad-CAM overlays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Natural language decision explanations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Frame-by-frame analysis capabilities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Performance Results (Phase 1 - v2)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Baseline (seed=42):  34.6 ± 21.4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Explainable (v1):   16.6 ± 13.9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Ratio:              47.8% of baseline  ⚠️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v1 Root Causes of Performance Gap: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1. Gate suppressed base features when attention was noisy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2. No residual skip path - no fallback when attention failed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3. No entropy pressure - attention heads stayed blurry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v3 Fix: Real gating + additive residual + entropy regulariser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Target: ≥90% of baseline after 2M-step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v3 Architecture: 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1. Real Multiplicative Gating: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combined = base + α × (base × attention)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α = sigmoid(α_logit) ≈ 0.05 initially → identity at start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2. Additive Residual Path: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combined += β × proj(base)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Second independent path even if every α = 0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3. Entropy Regulariser: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H ≤ 1.0 → focused | H ≥ 3.0 → dispersed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Middle band pays a penalty → heads bifurcated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Attention reg weight λ = 0.01 added to Q-learning loss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Explainability: v2 Observations + v3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v2 Observations (2M-step training):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Attention Entropy: ≈ 3.89 max (all heads blurry/unfocused)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No clear specialisation toward threats or rewards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v3 Architecture Targets: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Per-head entropy: H ≤ 1.0 (focused) OR H ≥ 3.0 (dispersed)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Heads bifurcated: clearly focused OR clearly dispersed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No vague blurry attention in the middle band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Dashboard Features (both v2 and v3):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Real-time heatmaps, Grad-CAM, Saliency, Q-values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Per-ghost threat analysis, decision explanations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Inference latency: ≈11.5ms (&lt;15ms target) 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Emergent Behaviors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Phase 1 - Exploration (100K steps):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Entropy 3.2, random attention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Phase 2 - Reactive (500K steps):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Entropy 2.1, immediate threat response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Phase 3 - Strategic (2M steps):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Entropy 1.4, delayed power pellet usage,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planning horizon ~30 frames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Why v2 Underperformed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Root Cause 1: Multiplicative Gating Suppression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v2: combined = base × (1 + g × tanh(conv))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When g&gt;0 and attention is random noise → features suppressed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Root Cause 2: No Residual Identity Path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No clean skip connection → no fallback when attention fails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Root Cause 3: No Entropy Pressure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Heads defaulted to maximum entropy (blurry random maps)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No penalty for unfocused attention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v3 Fix: Identity base + gated multiplicative + additive residual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+ entropy regulariser forcing focused OR dispersed heads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4 Impressive Demo Scenarios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1. 'The Perfect Chase' ??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AI eats power pellet ? hunts 3-4 ghosts successfully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2. 'The Great Escape' ??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Cornered ? finds tight gap ? escapes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3. 'The Costly Mistake' ??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Gets caught ? attention shows why (was watching pellets)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4. 'Strategic Power Pellet' ??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Waits for ghosts ? then eats ? hunts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Architecture:</a:t>
            </a:r>
          </a:p>
          <a:p>
            <a:pPr>
              <a:spcAft>
                <a:spcPts val="1200"/>
              </a:spcAft>
              <a:defRPr sz="1800"/>
            </a:pPr>
            <a:r>
              <a:t>-  Multi-head attention</a:t>
            </a:r>
          </a:p>
          <a:p>
            <a:pPr>
              <a:spcAft>
                <a:spcPts val="1200"/>
              </a:spcAft>
              <a:defRPr sz="1800"/>
            </a:pPr>
            <a:r>
              <a:t>-  Dueling DQN</a:t>
            </a:r>
          </a:p>
          <a:p>
            <a:pPr>
              <a:spcAft>
                <a:spcPts val="1200"/>
              </a:spcAft>
              <a:defRPr sz="1800"/>
            </a:pPr>
            <a:r>
              <a:t>-  Nature CNN backbone</a:t>
            </a:r>
          </a:p>
          <a:p>
            <a:pPr>
              <a:spcAft>
                <a:spcPts val="1200"/>
              </a:spcAft>
              <a:defRPr sz="1800"/>
            </a:pPr>
            <a:r>
              <a:t>-  Optimized for 4GB GPU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Training:</a:t>
            </a:r>
          </a:p>
          <a:p>
            <a:pPr>
              <a:spcAft>
                <a:spcPts val="1200"/>
              </a:spcAft>
              <a:defRPr sz="1800"/>
            </a:pPr>
            <a:r>
              <a:t>-  2M timesteps</a:t>
            </a:r>
          </a:p>
          <a:p>
            <a:pPr>
              <a:spcAft>
                <a:spcPts val="1200"/>
              </a:spcAft>
              <a:defRPr sz="1800"/>
            </a:pPr>
            <a:r>
              <a:t>-  4 hours on RTX 3050</a:t>
            </a:r>
          </a:p>
          <a:p>
            <a:pPr>
              <a:spcAft>
                <a:spcPts val="1200"/>
              </a:spcAft>
              <a:defRPr sz="1800"/>
            </a:pPr>
            <a:r>
              <a:t>-  Efficient replay 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Explainability:</a:t>
            </a:r>
          </a:p>
          <a:p>
            <a:pPr>
              <a:spcAft>
                <a:spcPts val="1200"/>
              </a:spcAft>
              <a:defRPr sz="1800"/>
            </a:pPr>
            <a:r>
              <a:t>-  Attention maps</a:t>
            </a:r>
          </a:p>
          <a:p>
            <a:pPr>
              <a:spcAft>
                <a:spcPts val="1200"/>
              </a:spcAft>
              <a:defRPr sz="1800"/>
            </a:pPr>
            <a:r>
              <a:t>-  Grad-CAM</a:t>
            </a:r>
          </a:p>
          <a:p>
            <a:pPr>
              <a:spcAft>
                <a:spcPts val="1200"/>
              </a:spcAft>
              <a:defRPr sz="1800"/>
            </a:pPr>
            <a:r>
              <a:t>-  Saliency maps</a:t>
            </a:r>
          </a:p>
          <a:p>
            <a:pPr>
              <a:spcAft>
                <a:spcPts val="1200"/>
              </a:spcAft>
              <a:defRPr sz="1800"/>
            </a:pPr>
            <a:r>
              <a:t>-  Q-value analysis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Evaluation:</a:t>
            </a:r>
          </a:p>
          <a:p>
            <a:pPr>
              <a:spcAft>
                <a:spcPts val="1200"/>
              </a:spcAft>
              <a:defRPr sz="1800"/>
            </a:pPr>
            <a:r>
              <a:t>-  Performance metrics</a:t>
            </a:r>
          </a:p>
          <a:p>
            <a:pPr>
              <a:spcAft>
                <a:spcPts val="1200"/>
              </a:spcAft>
              <a:defRPr sz="1800"/>
            </a:pPr>
            <a:r>
              <a:t>-  Explainability metrics</a:t>
            </a:r>
          </a:p>
          <a:p>
            <a:pPr>
              <a:spcAft>
                <a:spcPts val="1200"/>
              </a:spcAft>
              <a:defRPr sz="1800"/>
            </a:pPr>
            <a:r>
              <a:t>-  Human correlation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1⃣ Novel Architecture: Multi-head attention for multi-agent RL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v1: 47.8% of baseline ⚠️  |  v3 target: ≥90%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2⃣ Root-cause Analysis: Why attention hurts performance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Identified 3 architectural flaws in v2, fixed in v3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3⃣ Integrated Explainability: 4 complementary techniques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 Attention + Grad-CAM + Saliency + Q-value analysis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4⃣ Real-time Dashboard: &lt;15ms inference latency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5⃣ Empirical Validation: Baseline 34.6, v1 16.6 on seed=42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Limitations &amp; Future Work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Current Limitations: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Fixed attention weights (could be learned)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No ghost prediction (uses current position)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Single game evaluation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Future Work: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Extend to multiple Atari games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Learn attention weights dynamically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? Apply to real-world domains (robotics, autonomous vehicles)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✓ v1 architecture: 47.8% of baseline (root causes identified)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✓ v3 architecture addresses all 3 root causes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✓ Real gating + additive residual + entropy regulariser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✓ Dashboard: real-time explainability at &lt;15ms latency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Next Step: v3 training complete evaluation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Target: ≥90% of baseline (34.6 → ≥31 avg score)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If v3 meets target: strong evidence that the fix works</a:t>
            </a:r>
          </a:p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  If v3 still below: further investigation needed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